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Source Serif Pro" charset="1" panose="02040603050405020204"/>
      <p:regular r:id="rId19"/>
    </p:embeddedFont>
    <p:embeddedFont>
      <p:font typeface="Source Serif Pro Bold" charset="1" panose="02040803050405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8906735" y="905735"/>
            <a:ext cx="10259757" cy="8502773"/>
          </a:xfrm>
          <a:custGeom>
            <a:avLst/>
            <a:gdLst/>
            <a:ahLst/>
            <a:cxnLst/>
            <a:rect r="r" b="b" t="t" l="l"/>
            <a:pathLst>
              <a:path h="8502773" w="10259757">
                <a:moveTo>
                  <a:pt x="0" y="0"/>
                </a:moveTo>
                <a:lnTo>
                  <a:pt x="10259757" y="0"/>
                </a:lnTo>
                <a:lnTo>
                  <a:pt x="10259757" y="8502773"/>
                </a:lnTo>
                <a:lnTo>
                  <a:pt x="0" y="85027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3220194"/>
            <a:ext cx="9445526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Undercomplete Autoencoders: Learning Efficient Representations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869930"/>
            <a:ext cx="9445526" cy="4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Team 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545907"/>
            <a:ext cx="9445526" cy="193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VADAPALLI JASWANTH SAI (RA2311047010006)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ADVIKA AWASTHI (RA2311047010007)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NIRANJAN GOBE S (RA2311047010008)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 V ADVAITH (RA2311047010009)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RAAHIL HASSAN (RA2311047010010)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2969121"/>
            <a:chOff x="0" y="0"/>
            <a:chExt cx="24384000" cy="395882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958844"/>
            </a:xfrm>
            <a:custGeom>
              <a:avLst/>
              <a:gdLst/>
              <a:ahLst/>
              <a:cxnLst/>
              <a:rect r="r" b="b" t="t" l="l"/>
              <a:pathLst>
                <a:path h="39588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958844"/>
                  </a:lnTo>
                  <a:lnTo>
                    <a:pt x="0" y="3958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5" r="0" b="-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50119" y="3565177"/>
            <a:ext cx="8694985" cy="79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Introduction to Autoencoders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0119" y="4867870"/>
            <a:ext cx="9600754" cy="120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An </a:t>
            </a:r>
            <a:r>
              <a:rPr lang="en-US" sz="1812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autoencoder</a:t>
            </a:r>
            <a:r>
              <a:rPr lang="en-US" sz="1812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is a type of Artificial Neural Network (ANN) used for </a:t>
            </a:r>
            <a:r>
              <a:rPr lang="en-US" sz="1812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unsupervised learning</a:t>
            </a:r>
            <a:r>
              <a:rPr lang="en-US" sz="1812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 Its primary goal is to learn an </a:t>
            </a:r>
            <a:r>
              <a:rPr lang="en-US" sz="1812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efficient representation</a:t>
            </a:r>
            <a:r>
              <a:rPr lang="en-US" sz="1812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of data without explicit labels.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0119" y="6221463"/>
            <a:ext cx="9600754" cy="44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structure consists of two main parts: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119" y="6815137"/>
            <a:ext cx="9600754" cy="82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937"/>
              </a:lnSpc>
              <a:buFont typeface="Arial"/>
              <a:buChar char="•"/>
            </a:pPr>
            <a:r>
              <a:rPr lang="en-US" b="true" sz="1812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Encoder:</a:t>
            </a:r>
            <a:r>
              <a:rPr lang="en-US" sz="1812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Compresses the input into a smaller feature space, often called the latent code or bottleneck.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119" y="7658100"/>
            <a:ext cx="9600754" cy="82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937"/>
              </a:lnSpc>
              <a:buFont typeface="Arial"/>
              <a:buChar char="•"/>
            </a:pPr>
            <a:r>
              <a:rPr lang="en-US" b="true" sz="1812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Decoder:</a:t>
            </a:r>
            <a:r>
              <a:rPr lang="en-US" sz="1812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Reconstructs the original data from this compressed latent code, aiming to produce an output as close to the input as possible.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1139934" y="4987975"/>
            <a:ext cx="6207324" cy="4607867"/>
            <a:chOff x="0" y="0"/>
            <a:chExt cx="8276432" cy="614382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276463" cy="6143879"/>
            </a:xfrm>
            <a:custGeom>
              <a:avLst/>
              <a:gdLst/>
              <a:ahLst/>
              <a:cxnLst/>
              <a:rect r="r" b="b" t="t" l="l"/>
              <a:pathLst>
                <a:path h="6143879" w="8276463">
                  <a:moveTo>
                    <a:pt x="0" y="0"/>
                  </a:moveTo>
                  <a:lnTo>
                    <a:pt x="8276463" y="0"/>
                  </a:lnTo>
                  <a:lnTo>
                    <a:pt x="8276463" y="6143879"/>
                  </a:lnTo>
                  <a:lnTo>
                    <a:pt x="0" y="614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30932"/>
            <a:ext cx="9445526" cy="158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What is an Undercomplete Autoencoder?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904739"/>
            <a:ext cx="7591161" cy="701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term “undercomplete” comes from the fact that the capacity of the hidden layer is 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smaller than the input dimension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This means that the model is intentionally restricted by having fewer neurons in the bottleneck layer than in the input layer.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This bottleneck forces the network to focus on the most important features of the data, instead of just memorizing pixel-by-pixel or feature-by-feature.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In other w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rd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he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network cannot s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imp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ly c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py the input to the output; it must lea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 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he underlying p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tter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s, correla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ions, and structure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p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resent in the d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at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a.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As a resul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th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model lea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rns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a compressed and meaningful representation of the input.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This representation, also called the latent code, captures only the essential information while discarding redundancy or noise.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Such representations are highly valuable because they make downstream tasks like classification, clustering, or anomaly detection more efficient and effective.</a:t>
            </a:r>
          </a:p>
          <a:p>
            <a:pPr algn="l">
              <a:lnSpc>
                <a:spcPts val="3123"/>
              </a:lnSpc>
            </a:pP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8583398" y="2333311"/>
            <a:ext cx="8675902" cy="5996303"/>
            <a:chOff x="0" y="0"/>
            <a:chExt cx="5223470" cy="361017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223510" cy="3610229"/>
            </a:xfrm>
            <a:custGeom>
              <a:avLst/>
              <a:gdLst/>
              <a:ahLst/>
              <a:cxnLst/>
              <a:rect r="r" b="b" t="t" l="l"/>
              <a:pathLst>
                <a:path h="3610229" w="5223510">
                  <a:moveTo>
                    <a:pt x="0" y="0"/>
                  </a:moveTo>
                  <a:lnTo>
                    <a:pt x="5223510" y="0"/>
                  </a:lnTo>
                  <a:lnTo>
                    <a:pt x="5223510" y="3610229"/>
                  </a:lnTo>
                  <a:lnTo>
                    <a:pt x="0" y="3610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t="0" r="-9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63974"/>
            <a:ext cx="10919371" cy="81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Why Undercomplete Autoencoders?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7950" y="3558927"/>
            <a:ext cx="5297686" cy="1911995"/>
            <a:chOff x="0" y="0"/>
            <a:chExt cx="7063582" cy="25493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7025513" cy="2511298"/>
            </a:xfrm>
            <a:custGeom>
              <a:avLst/>
              <a:gdLst/>
              <a:ahLst/>
              <a:cxnLst/>
              <a:rect r="r" b="b" t="t" l="l"/>
              <a:pathLst>
                <a:path h="2511298" w="7025513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6840855" y="0"/>
                  </a:lnTo>
                  <a:cubicBezTo>
                    <a:pt x="6942837" y="0"/>
                    <a:pt x="7025513" y="81915"/>
                    <a:pt x="7025513" y="182880"/>
                  </a:cubicBezTo>
                  <a:lnTo>
                    <a:pt x="7025513" y="2328418"/>
                  </a:lnTo>
                  <a:cubicBezTo>
                    <a:pt x="7025513" y="2429383"/>
                    <a:pt x="6942837" y="2511298"/>
                    <a:pt x="6840855" y="2511298"/>
                  </a:cubicBezTo>
                  <a:lnTo>
                    <a:pt x="184658" y="2511298"/>
                  </a:lnTo>
                  <a:cubicBezTo>
                    <a:pt x="82677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3613" cy="2549398"/>
            </a:xfrm>
            <a:custGeom>
              <a:avLst/>
              <a:gdLst/>
              <a:ahLst/>
              <a:cxnLst/>
              <a:rect r="r" b="b" t="t" l="l"/>
              <a:pathLst>
                <a:path h="2549398" w="7063613">
                  <a:moveTo>
                    <a:pt x="0" y="201930"/>
                  </a:moveTo>
                  <a:cubicBezTo>
                    <a:pt x="0" y="90170"/>
                    <a:pt x="91313" y="0"/>
                    <a:pt x="203708" y="0"/>
                  </a:cubicBezTo>
                  <a:lnTo>
                    <a:pt x="6859905" y="0"/>
                  </a:lnTo>
                  <a:lnTo>
                    <a:pt x="6859905" y="19050"/>
                  </a:lnTo>
                  <a:lnTo>
                    <a:pt x="6859905" y="0"/>
                  </a:lnTo>
                  <a:cubicBezTo>
                    <a:pt x="6972174" y="0"/>
                    <a:pt x="7063613" y="90170"/>
                    <a:pt x="7063613" y="201930"/>
                  </a:cubicBezTo>
                  <a:lnTo>
                    <a:pt x="7044563" y="201930"/>
                  </a:lnTo>
                  <a:lnTo>
                    <a:pt x="7063613" y="201930"/>
                  </a:lnTo>
                  <a:lnTo>
                    <a:pt x="7063613" y="2347468"/>
                  </a:lnTo>
                  <a:lnTo>
                    <a:pt x="7044563" y="2347468"/>
                  </a:lnTo>
                  <a:lnTo>
                    <a:pt x="7063613" y="2347468"/>
                  </a:lnTo>
                  <a:cubicBezTo>
                    <a:pt x="7063613" y="2459101"/>
                    <a:pt x="6972300" y="2549398"/>
                    <a:pt x="6859905" y="2549398"/>
                  </a:cubicBezTo>
                  <a:lnTo>
                    <a:pt x="6859905" y="2530348"/>
                  </a:lnTo>
                  <a:lnTo>
                    <a:pt x="6859905" y="2549398"/>
                  </a:lnTo>
                  <a:lnTo>
                    <a:pt x="203708" y="2549398"/>
                  </a:lnTo>
                  <a:lnTo>
                    <a:pt x="203708" y="2530348"/>
                  </a:lnTo>
                  <a:lnTo>
                    <a:pt x="203708" y="2549398"/>
                  </a:lnTo>
                  <a:cubicBezTo>
                    <a:pt x="91440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014" y="2511298"/>
                    <a:pt x="203708" y="2511298"/>
                  </a:cubicBezTo>
                  <a:lnTo>
                    <a:pt x="6859905" y="2511298"/>
                  </a:lnTo>
                  <a:cubicBezTo>
                    <a:pt x="6951473" y="2511298"/>
                    <a:pt x="7025513" y="2437765"/>
                    <a:pt x="7025513" y="2347468"/>
                  </a:cubicBezTo>
                  <a:lnTo>
                    <a:pt x="7025513" y="201930"/>
                  </a:lnTo>
                  <a:cubicBezTo>
                    <a:pt x="7025513" y="111633"/>
                    <a:pt x="6951599" y="38100"/>
                    <a:pt x="6859905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3662" y="3573215"/>
            <a:ext cx="114300" cy="1883420"/>
            <a:chOff x="0" y="0"/>
            <a:chExt cx="152400" cy="25112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511298"/>
            </a:xfrm>
            <a:custGeom>
              <a:avLst/>
              <a:gdLst/>
              <a:ahLst/>
              <a:cxnLst/>
              <a:rect r="r" b="b" t="t" l="l"/>
              <a:pathLst>
                <a:path h="2511298" w="15240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2743" y="0"/>
                  </a:lnTo>
                  <a:cubicBezTo>
                    <a:pt x="130175" y="0"/>
                    <a:pt x="152400" y="22225"/>
                    <a:pt x="152400" y="49657"/>
                  </a:cubicBezTo>
                  <a:lnTo>
                    <a:pt x="152400" y="2461641"/>
                  </a:lnTo>
                  <a:cubicBezTo>
                    <a:pt x="152400" y="2489073"/>
                    <a:pt x="130175" y="2511298"/>
                    <a:pt x="102743" y="2511298"/>
                  </a:cubicBezTo>
                  <a:lnTo>
                    <a:pt x="49657" y="2511298"/>
                  </a:lnTo>
                  <a:cubicBezTo>
                    <a:pt x="22225" y="2511298"/>
                    <a:pt x="0" y="2489073"/>
                    <a:pt x="0" y="2461641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54485" y="3840213"/>
            <a:ext cx="3965376" cy="3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Dimensionality Reduction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4485" y="4300537"/>
            <a:ext cx="4630341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Reduces data complexity, similar to PCA but with non-linear capabilities.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95009" y="3558927"/>
            <a:ext cx="5297835" cy="1911995"/>
            <a:chOff x="0" y="0"/>
            <a:chExt cx="7063780" cy="25493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9050" y="19050"/>
              <a:ext cx="7025639" cy="2511298"/>
            </a:xfrm>
            <a:custGeom>
              <a:avLst/>
              <a:gdLst/>
              <a:ahLst/>
              <a:cxnLst/>
              <a:rect r="r" b="b" t="t" l="l"/>
              <a:pathLst>
                <a:path h="2511298" w="7025639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6840982" y="0"/>
                  </a:lnTo>
                  <a:cubicBezTo>
                    <a:pt x="6942963" y="0"/>
                    <a:pt x="7025639" y="81915"/>
                    <a:pt x="7025639" y="182880"/>
                  </a:cubicBezTo>
                  <a:lnTo>
                    <a:pt x="7025639" y="2328418"/>
                  </a:lnTo>
                  <a:cubicBezTo>
                    <a:pt x="7025639" y="2429383"/>
                    <a:pt x="6942963" y="2511298"/>
                    <a:pt x="6840982" y="2511298"/>
                  </a:cubicBezTo>
                  <a:lnTo>
                    <a:pt x="184658" y="2511298"/>
                  </a:lnTo>
                  <a:cubicBezTo>
                    <a:pt x="82677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3739" cy="2549398"/>
            </a:xfrm>
            <a:custGeom>
              <a:avLst/>
              <a:gdLst/>
              <a:ahLst/>
              <a:cxnLst/>
              <a:rect r="r" b="b" t="t" l="l"/>
              <a:pathLst>
                <a:path h="2549398" w="7063739">
                  <a:moveTo>
                    <a:pt x="0" y="201930"/>
                  </a:moveTo>
                  <a:cubicBezTo>
                    <a:pt x="0" y="90170"/>
                    <a:pt x="91313" y="0"/>
                    <a:pt x="203708" y="0"/>
                  </a:cubicBezTo>
                  <a:lnTo>
                    <a:pt x="6860032" y="0"/>
                  </a:lnTo>
                  <a:lnTo>
                    <a:pt x="6860032" y="19050"/>
                  </a:lnTo>
                  <a:lnTo>
                    <a:pt x="6860032" y="0"/>
                  </a:lnTo>
                  <a:cubicBezTo>
                    <a:pt x="6972300" y="0"/>
                    <a:pt x="7063739" y="90170"/>
                    <a:pt x="7063739" y="201930"/>
                  </a:cubicBezTo>
                  <a:lnTo>
                    <a:pt x="7044689" y="201930"/>
                  </a:lnTo>
                  <a:lnTo>
                    <a:pt x="7063739" y="201930"/>
                  </a:lnTo>
                  <a:lnTo>
                    <a:pt x="7063739" y="2347468"/>
                  </a:lnTo>
                  <a:lnTo>
                    <a:pt x="7044689" y="2347468"/>
                  </a:lnTo>
                  <a:lnTo>
                    <a:pt x="7063739" y="2347468"/>
                  </a:lnTo>
                  <a:cubicBezTo>
                    <a:pt x="7063739" y="2459101"/>
                    <a:pt x="6972426" y="2549398"/>
                    <a:pt x="6860032" y="2549398"/>
                  </a:cubicBezTo>
                  <a:lnTo>
                    <a:pt x="6860032" y="2530348"/>
                  </a:lnTo>
                  <a:lnTo>
                    <a:pt x="6860032" y="2549398"/>
                  </a:lnTo>
                  <a:lnTo>
                    <a:pt x="203708" y="2549398"/>
                  </a:lnTo>
                  <a:lnTo>
                    <a:pt x="203708" y="2530348"/>
                  </a:lnTo>
                  <a:lnTo>
                    <a:pt x="203708" y="2549398"/>
                  </a:lnTo>
                  <a:cubicBezTo>
                    <a:pt x="91440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014" y="2511298"/>
                    <a:pt x="203708" y="2511298"/>
                  </a:cubicBezTo>
                  <a:lnTo>
                    <a:pt x="6860032" y="2511298"/>
                  </a:lnTo>
                  <a:cubicBezTo>
                    <a:pt x="6951599" y="2511298"/>
                    <a:pt x="7025639" y="2437765"/>
                    <a:pt x="7025639" y="2347468"/>
                  </a:cubicBezTo>
                  <a:lnTo>
                    <a:pt x="7025639" y="201930"/>
                  </a:lnTo>
                  <a:cubicBezTo>
                    <a:pt x="7025639" y="111633"/>
                    <a:pt x="6951725" y="38100"/>
                    <a:pt x="6860032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80721" y="3573215"/>
            <a:ext cx="114300" cy="1883420"/>
            <a:chOff x="0" y="0"/>
            <a:chExt cx="152400" cy="25112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" cy="2511298"/>
            </a:xfrm>
            <a:custGeom>
              <a:avLst/>
              <a:gdLst/>
              <a:ahLst/>
              <a:cxnLst/>
              <a:rect r="r" b="b" t="t" l="l"/>
              <a:pathLst>
                <a:path h="2511298" w="15240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2743" y="0"/>
                  </a:lnTo>
                  <a:cubicBezTo>
                    <a:pt x="130175" y="0"/>
                    <a:pt x="152400" y="22225"/>
                    <a:pt x="152400" y="49657"/>
                  </a:cubicBezTo>
                  <a:lnTo>
                    <a:pt x="152400" y="2461641"/>
                  </a:lnTo>
                  <a:cubicBezTo>
                    <a:pt x="152400" y="2489073"/>
                    <a:pt x="130175" y="2511298"/>
                    <a:pt x="102743" y="2511298"/>
                  </a:cubicBezTo>
                  <a:lnTo>
                    <a:pt x="49657" y="2511298"/>
                  </a:lnTo>
                  <a:cubicBezTo>
                    <a:pt x="22225" y="2511298"/>
                    <a:pt x="0" y="2489073"/>
                    <a:pt x="0" y="2461641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871544" y="3840213"/>
            <a:ext cx="3120926" cy="3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Meaningful Features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71544" y="4300537"/>
            <a:ext cx="4630490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Learns compact, highly relevant features from raw data.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12216" y="3558927"/>
            <a:ext cx="5297686" cy="1911995"/>
            <a:chOff x="0" y="0"/>
            <a:chExt cx="7063582" cy="25493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7025513" cy="2511298"/>
            </a:xfrm>
            <a:custGeom>
              <a:avLst/>
              <a:gdLst/>
              <a:ahLst/>
              <a:cxnLst/>
              <a:rect r="r" b="b" t="t" l="l"/>
              <a:pathLst>
                <a:path h="2511298" w="7025513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6840855" y="0"/>
                  </a:lnTo>
                  <a:cubicBezTo>
                    <a:pt x="6942837" y="0"/>
                    <a:pt x="7025513" y="81915"/>
                    <a:pt x="7025513" y="182880"/>
                  </a:cubicBezTo>
                  <a:lnTo>
                    <a:pt x="7025513" y="2328418"/>
                  </a:lnTo>
                  <a:cubicBezTo>
                    <a:pt x="7025513" y="2429383"/>
                    <a:pt x="6942837" y="2511298"/>
                    <a:pt x="6840855" y="2511298"/>
                  </a:cubicBezTo>
                  <a:lnTo>
                    <a:pt x="184658" y="2511298"/>
                  </a:lnTo>
                  <a:cubicBezTo>
                    <a:pt x="82677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3613" cy="2549398"/>
            </a:xfrm>
            <a:custGeom>
              <a:avLst/>
              <a:gdLst/>
              <a:ahLst/>
              <a:cxnLst/>
              <a:rect r="r" b="b" t="t" l="l"/>
              <a:pathLst>
                <a:path h="2549398" w="7063613">
                  <a:moveTo>
                    <a:pt x="0" y="201930"/>
                  </a:moveTo>
                  <a:cubicBezTo>
                    <a:pt x="0" y="90170"/>
                    <a:pt x="91313" y="0"/>
                    <a:pt x="203708" y="0"/>
                  </a:cubicBezTo>
                  <a:lnTo>
                    <a:pt x="6859905" y="0"/>
                  </a:lnTo>
                  <a:lnTo>
                    <a:pt x="6859905" y="19050"/>
                  </a:lnTo>
                  <a:lnTo>
                    <a:pt x="6859905" y="0"/>
                  </a:lnTo>
                  <a:cubicBezTo>
                    <a:pt x="6972174" y="0"/>
                    <a:pt x="7063613" y="90170"/>
                    <a:pt x="7063613" y="201930"/>
                  </a:cubicBezTo>
                  <a:lnTo>
                    <a:pt x="7044563" y="201930"/>
                  </a:lnTo>
                  <a:lnTo>
                    <a:pt x="7063613" y="201930"/>
                  </a:lnTo>
                  <a:lnTo>
                    <a:pt x="7063613" y="2347468"/>
                  </a:lnTo>
                  <a:lnTo>
                    <a:pt x="7044563" y="2347468"/>
                  </a:lnTo>
                  <a:lnTo>
                    <a:pt x="7063613" y="2347468"/>
                  </a:lnTo>
                  <a:cubicBezTo>
                    <a:pt x="7063613" y="2459101"/>
                    <a:pt x="6972300" y="2549398"/>
                    <a:pt x="6859905" y="2549398"/>
                  </a:cubicBezTo>
                  <a:lnTo>
                    <a:pt x="6859905" y="2530348"/>
                  </a:lnTo>
                  <a:lnTo>
                    <a:pt x="6859905" y="2549398"/>
                  </a:lnTo>
                  <a:lnTo>
                    <a:pt x="203708" y="2549398"/>
                  </a:lnTo>
                  <a:lnTo>
                    <a:pt x="203708" y="2530348"/>
                  </a:lnTo>
                  <a:lnTo>
                    <a:pt x="203708" y="2549398"/>
                  </a:lnTo>
                  <a:cubicBezTo>
                    <a:pt x="91440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014" y="2511298"/>
                    <a:pt x="203708" y="2511298"/>
                  </a:cubicBezTo>
                  <a:lnTo>
                    <a:pt x="6859905" y="2511298"/>
                  </a:lnTo>
                  <a:cubicBezTo>
                    <a:pt x="6951473" y="2511298"/>
                    <a:pt x="7025513" y="2437765"/>
                    <a:pt x="7025513" y="2347468"/>
                  </a:cubicBezTo>
                  <a:lnTo>
                    <a:pt x="7025513" y="201930"/>
                  </a:lnTo>
                  <a:cubicBezTo>
                    <a:pt x="7025513" y="111633"/>
                    <a:pt x="6951599" y="38100"/>
                    <a:pt x="6859905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997929" y="3573215"/>
            <a:ext cx="114300" cy="1883420"/>
            <a:chOff x="0" y="0"/>
            <a:chExt cx="152400" cy="25112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2511298"/>
            </a:xfrm>
            <a:custGeom>
              <a:avLst/>
              <a:gdLst/>
              <a:ahLst/>
              <a:cxnLst/>
              <a:rect r="r" b="b" t="t" l="l"/>
              <a:pathLst>
                <a:path h="2511298" w="15240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2743" y="0"/>
                  </a:lnTo>
                  <a:cubicBezTo>
                    <a:pt x="130175" y="0"/>
                    <a:pt x="152400" y="22225"/>
                    <a:pt x="152400" y="49657"/>
                  </a:cubicBezTo>
                  <a:lnTo>
                    <a:pt x="152400" y="2461641"/>
                  </a:lnTo>
                  <a:cubicBezTo>
                    <a:pt x="152400" y="2489073"/>
                    <a:pt x="130175" y="2511298"/>
                    <a:pt x="102743" y="2511298"/>
                  </a:cubicBezTo>
                  <a:lnTo>
                    <a:pt x="49657" y="2511298"/>
                  </a:lnTo>
                  <a:cubicBezTo>
                    <a:pt x="22225" y="2511298"/>
                    <a:pt x="0" y="2489073"/>
                    <a:pt x="0" y="2461641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388751" y="3840213"/>
            <a:ext cx="3101131" cy="3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Image Compression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88751" y="4300537"/>
            <a:ext cx="4630341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Efficiently compresses images while retaining essential information.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7950" y="5690295"/>
            <a:ext cx="5297686" cy="2308920"/>
            <a:chOff x="0" y="0"/>
            <a:chExt cx="7063582" cy="3078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7025513" cy="3040507"/>
            </a:xfrm>
            <a:custGeom>
              <a:avLst/>
              <a:gdLst/>
              <a:ahLst/>
              <a:cxnLst/>
              <a:rect r="r" b="b" t="t" l="l"/>
              <a:pathLst>
                <a:path h="3040507" w="7025513">
                  <a:moveTo>
                    <a:pt x="0" y="182880"/>
                  </a:moveTo>
                  <a:cubicBezTo>
                    <a:pt x="0" y="81915"/>
                    <a:pt x="82423" y="0"/>
                    <a:pt x="184150" y="0"/>
                  </a:cubicBezTo>
                  <a:lnTo>
                    <a:pt x="6841363" y="0"/>
                  </a:lnTo>
                  <a:cubicBezTo>
                    <a:pt x="6943090" y="0"/>
                    <a:pt x="7025513" y="81915"/>
                    <a:pt x="7025513" y="182880"/>
                  </a:cubicBezTo>
                  <a:lnTo>
                    <a:pt x="7025513" y="2857627"/>
                  </a:lnTo>
                  <a:cubicBezTo>
                    <a:pt x="7025513" y="2958592"/>
                    <a:pt x="6943090" y="3040507"/>
                    <a:pt x="6841363" y="3040507"/>
                  </a:cubicBezTo>
                  <a:lnTo>
                    <a:pt x="184150" y="3040507"/>
                  </a:lnTo>
                  <a:cubicBezTo>
                    <a:pt x="82423" y="3040507"/>
                    <a:pt x="0" y="2958592"/>
                    <a:pt x="0" y="28576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63613" cy="3078607"/>
            </a:xfrm>
            <a:custGeom>
              <a:avLst/>
              <a:gdLst/>
              <a:ahLst/>
              <a:cxnLst/>
              <a:rect r="r" b="b" t="t" l="l"/>
              <a:pathLst>
                <a:path h="3078607" w="7063613">
                  <a:moveTo>
                    <a:pt x="0" y="201930"/>
                  </a:moveTo>
                  <a:cubicBezTo>
                    <a:pt x="0" y="90297"/>
                    <a:pt x="91059" y="0"/>
                    <a:pt x="203200" y="0"/>
                  </a:cubicBezTo>
                  <a:lnTo>
                    <a:pt x="6860413" y="0"/>
                  </a:lnTo>
                  <a:lnTo>
                    <a:pt x="6860413" y="19050"/>
                  </a:lnTo>
                  <a:lnTo>
                    <a:pt x="6860413" y="0"/>
                  </a:lnTo>
                  <a:cubicBezTo>
                    <a:pt x="6972554" y="0"/>
                    <a:pt x="7063613" y="90297"/>
                    <a:pt x="7063613" y="201930"/>
                  </a:cubicBezTo>
                  <a:lnTo>
                    <a:pt x="7044563" y="201930"/>
                  </a:lnTo>
                  <a:lnTo>
                    <a:pt x="7063613" y="201930"/>
                  </a:lnTo>
                  <a:lnTo>
                    <a:pt x="7063613" y="2876677"/>
                  </a:lnTo>
                  <a:lnTo>
                    <a:pt x="7044563" y="2876677"/>
                  </a:lnTo>
                  <a:lnTo>
                    <a:pt x="7063613" y="2876677"/>
                  </a:lnTo>
                  <a:cubicBezTo>
                    <a:pt x="7063613" y="2988310"/>
                    <a:pt x="6972554" y="3078607"/>
                    <a:pt x="6860413" y="3078607"/>
                  </a:cubicBezTo>
                  <a:lnTo>
                    <a:pt x="6860413" y="3059557"/>
                  </a:lnTo>
                  <a:lnTo>
                    <a:pt x="6860413" y="3078607"/>
                  </a:lnTo>
                  <a:lnTo>
                    <a:pt x="203200" y="3078607"/>
                  </a:lnTo>
                  <a:lnTo>
                    <a:pt x="203200" y="3059557"/>
                  </a:lnTo>
                  <a:lnTo>
                    <a:pt x="203200" y="3078607"/>
                  </a:lnTo>
                  <a:cubicBezTo>
                    <a:pt x="91059" y="3078607"/>
                    <a:pt x="0" y="2988310"/>
                    <a:pt x="0" y="2876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876677"/>
                  </a:lnTo>
                  <a:lnTo>
                    <a:pt x="19050" y="2876677"/>
                  </a:lnTo>
                  <a:lnTo>
                    <a:pt x="38100" y="2876677"/>
                  </a:lnTo>
                  <a:cubicBezTo>
                    <a:pt x="38100" y="2966974"/>
                    <a:pt x="111887" y="3040507"/>
                    <a:pt x="203200" y="3040507"/>
                  </a:cubicBezTo>
                  <a:lnTo>
                    <a:pt x="6860413" y="3040507"/>
                  </a:lnTo>
                  <a:cubicBezTo>
                    <a:pt x="6951726" y="3040507"/>
                    <a:pt x="7025513" y="2966974"/>
                    <a:pt x="7025513" y="2876677"/>
                  </a:cubicBezTo>
                  <a:lnTo>
                    <a:pt x="7025513" y="201930"/>
                  </a:lnTo>
                  <a:cubicBezTo>
                    <a:pt x="7025513" y="111633"/>
                    <a:pt x="6951726" y="38100"/>
                    <a:pt x="6860413" y="38100"/>
                  </a:cubicBezTo>
                  <a:lnTo>
                    <a:pt x="203200" y="38100"/>
                  </a:lnTo>
                  <a:lnTo>
                    <a:pt x="203200" y="19050"/>
                  </a:lnTo>
                  <a:lnTo>
                    <a:pt x="203200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3662" y="5704582"/>
            <a:ext cx="114300" cy="2280345"/>
            <a:chOff x="0" y="0"/>
            <a:chExt cx="152400" cy="30404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3040507"/>
            </a:xfrm>
            <a:custGeom>
              <a:avLst/>
              <a:gdLst/>
              <a:ahLst/>
              <a:cxnLst/>
              <a:rect r="r" b="b" t="t" l="l"/>
              <a:pathLst>
                <a:path h="3040507" w="15240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2743" y="0"/>
                  </a:lnTo>
                  <a:cubicBezTo>
                    <a:pt x="130175" y="0"/>
                    <a:pt x="152400" y="22225"/>
                    <a:pt x="152400" y="49657"/>
                  </a:cubicBezTo>
                  <a:lnTo>
                    <a:pt x="152400" y="2990850"/>
                  </a:lnTo>
                  <a:cubicBezTo>
                    <a:pt x="152400" y="3018282"/>
                    <a:pt x="130175" y="3040507"/>
                    <a:pt x="102743" y="3040507"/>
                  </a:cubicBezTo>
                  <a:lnTo>
                    <a:pt x="49657" y="3040507"/>
                  </a:lnTo>
                  <a:cubicBezTo>
                    <a:pt x="22225" y="3040507"/>
                    <a:pt x="0" y="3018282"/>
                    <a:pt x="0" y="2990850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54485" y="5971580"/>
            <a:ext cx="3101131" cy="3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Noise Reduction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4485" y="6431905"/>
            <a:ext cx="4630341" cy="12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Effective in denoising tasks, reconstructing clean data from noisy inputs.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495009" y="5690295"/>
            <a:ext cx="5297835" cy="2308920"/>
            <a:chOff x="0" y="0"/>
            <a:chExt cx="7063780" cy="3078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9050" y="19050"/>
              <a:ext cx="7025640" cy="3040507"/>
            </a:xfrm>
            <a:custGeom>
              <a:avLst/>
              <a:gdLst/>
              <a:ahLst/>
              <a:cxnLst/>
              <a:rect r="r" b="b" t="t" l="l"/>
              <a:pathLst>
                <a:path h="3040507" w="7025640">
                  <a:moveTo>
                    <a:pt x="0" y="182880"/>
                  </a:moveTo>
                  <a:cubicBezTo>
                    <a:pt x="0" y="81915"/>
                    <a:pt x="82423" y="0"/>
                    <a:pt x="184150" y="0"/>
                  </a:cubicBezTo>
                  <a:lnTo>
                    <a:pt x="6841490" y="0"/>
                  </a:lnTo>
                  <a:cubicBezTo>
                    <a:pt x="6943217" y="0"/>
                    <a:pt x="7025640" y="81915"/>
                    <a:pt x="7025640" y="182880"/>
                  </a:cubicBezTo>
                  <a:lnTo>
                    <a:pt x="7025640" y="2857627"/>
                  </a:lnTo>
                  <a:cubicBezTo>
                    <a:pt x="7025640" y="2958592"/>
                    <a:pt x="6943217" y="3040507"/>
                    <a:pt x="6841490" y="3040507"/>
                  </a:cubicBezTo>
                  <a:lnTo>
                    <a:pt x="184150" y="3040507"/>
                  </a:lnTo>
                  <a:cubicBezTo>
                    <a:pt x="82423" y="3040507"/>
                    <a:pt x="0" y="2958592"/>
                    <a:pt x="0" y="28576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63740" cy="3078607"/>
            </a:xfrm>
            <a:custGeom>
              <a:avLst/>
              <a:gdLst/>
              <a:ahLst/>
              <a:cxnLst/>
              <a:rect r="r" b="b" t="t" l="l"/>
              <a:pathLst>
                <a:path h="3078607" w="7063740">
                  <a:moveTo>
                    <a:pt x="0" y="201930"/>
                  </a:moveTo>
                  <a:cubicBezTo>
                    <a:pt x="0" y="90297"/>
                    <a:pt x="91059" y="0"/>
                    <a:pt x="203200" y="0"/>
                  </a:cubicBezTo>
                  <a:lnTo>
                    <a:pt x="6860540" y="0"/>
                  </a:lnTo>
                  <a:lnTo>
                    <a:pt x="6860540" y="19050"/>
                  </a:lnTo>
                  <a:lnTo>
                    <a:pt x="6860540" y="0"/>
                  </a:lnTo>
                  <a:cubicBezTo>
                    <a:pt x="6972681" y="0"/>
                    <a:pt x="7063740" y="90297"/>
                    <a:pt x="7063740" y="201930"/>
                  </a:cubicBezTo>
                  <a:lnTo>
                    <a:pt x="7044690" y="201930"/>
                  </a:lnTo>
                  <a:lnTo>
                    <a:pt x="7063740" y="201930"/>
                  </a:lnTo>
                  <a:lnTo>
                    <a:pt x="7063740" y="2876677"/>
                  </a:lnTo>
                  <a:lnTo>
                    <a:pt x="7044690" y="2876677"/>
                  </a:lnTo>
                  <a:lnTo>
                    <a:pt x="7063740" y="2876677"/>
                  </a:lnTo>
                  <a:cubicBezTo>
                    <a:pt x="7063740" y="2988310"/>
                    <a:pt x="6972681" y="3078607"/>
                    <a:pt x="6860540" y="3078607"/>
                  </a:cubicBezTo>
                  <a:lnTo>
                    <a:pt x="6860540" y="3059557"/>
                  </a:lnTo>
                  <a:lnTo>
                    <a:pt x="6860540" y="3078607"/>
                  </a:lnTo>
                  <a:lnTo>
                    <a:pt x="203200" y="3078607"/>
                  </a:lnTo>
                  <a:lnTo>
                    <a:pt x="203200" y="3059557"/>
                  </a:lnTo>
                  <a:lnTo>
                    <a:pt x="203200" y="3078607"/>
                  </a:lnTo>
                  <a:cubicBezTo>
                    <a:pt x="91059" y="3078607"/>
                    <a:pt x="0" y="2988310"/>
                    <a:pt x="0" y="2876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876677"/>
                  </a:lnTo>
                  <a:lnTo>
                    <a:pt x="19050" y="2876677"/>
                  </a:lnTo>
                  <a:lnTo>
                    <a:pt x="38100" y="2876677"/>
                  </a:lnTo>
                  <a:cubicBezTo>
                    <a:pt x="38100" y="2966974"/>
                    <a:pt x="111887" y="3040507"/>
                    <a:pt x="203200" y="3040507"/>
                  </a:cubicBezTo>
                  <a:lnTo>
                    <a:pt x="6860540" y="3040507"/>
                  </a:lnTo>
                  <a:cubicBezTo>
                    <a:pt x="6951853" y="3040507"/>
                    <a:pt x="7025640" y="2966974"/>
                    <a:pt x="7025640" y="2876677"/>
                  </a:cubicBezTo>
                  <a:lnTo>
                    <a:pt x="7025640" y="201930"/>
                  </a:lnTo>
                  <a:cubicBezTo>
                    <a:pt x="7025640" y="111633"/>
                    <a:pt x="6951853" y="38100"/>
                    <a:pt x="6860540" y="38100"/>
                  </a:cubicBezTo>
                  <a:lnTo>
                    <a:pt x="203200" y="38100"/>
                  </a:lnTo>
                  <a:lnTo>
                    <a:pt x="203200" y="19050"/>
                  </a:lnTo>
                  <a:lnTo>
                    <a:pt x="203200" y="38100"/>
                  </a:lnTo>
                  <a:cubicBezTo>
                    <a:pt x="111887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80721" y="5704582"/>
            <a:ext cx="114300" cy="2280345"/>
            <a:chOff x="0" y="0"/>
            <a:chExt cx="152400" cy="30404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400" cy="3040507"/>
            </a:xfrm>
            <a:custGeom>
              <a:avLst/>
              <a:gdLst/>
              <a:ahLst/>
              <a:cxnLst/>
              <a:rect r="r" b="b" t="t" l="l"/>
              <a:pathLst>
                <a:path h="3040507" w="15240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2743" y="0"/>
                  </a:lnTo>
                  <a:cubicBezTo>
                    <a:pt x="130175" y="0"/>
                    <a:pt x="152400" y="22225"/>
                    <a:pt x="152400" y="49657"/>
                  </a:cubicBezTo>
                  <a:lnTo>
                    <a:pt x="152400" y="2990850"/>
                  </a:lnTo>
                  <a:cubicBezTo>
                    <a:pt x="152400" y="3018282"/>
                    <a:pt x="130175" y="3040507"/>
                    <a:pt x="102743" y="3040507"/>
                  </a:cubicBezTo>
                  <a:lnTo>
                    <a:pt x="49657" y="3040507"/>
                  </a:lnTo>
                  <a:cubicBezTo>
                    <a:pt x="22225" y="3040507"/>
                    <a:pt x="0" y="3018282"/>
                    <a:pt x="0" y="2990850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871544" y="5971580"/>
            <a:ext cx="3101131" cy="39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Anomaly Detection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71544" y="6431905"/>
            <a:ext cx="4630490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Identifies unusual data points by their high reconstruction error.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63811" y="7915572"/>
            <a:ext cx="7886254" cy="412551"/>
            <a:chOff x="0" y="0"/>
            <a:chExt cx="10515005" cy="55006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514965" cy="550037"/>
            </a:xfrm>
            <a:custGeom>
              <a:avLst/>
              <a:gdLst/>
              <a:ahLst/>
              <a:cxnLst/>
              <a:rect r="r" b="b" t="t" l="l"/>
              <a:pathLst>
                <a:path h="550037" w="10514965">
                  <a:moveTo>
                    <a:pt x="0" y="0"/>
                  </a:moveTo>
                  <a:lnTo>
                    <a:pt x="10514965" y="0"/>
                  </a:lnTo>
                  <a:lnTo>
                    <a:pt x="10514965" y="550037"/>
                  </a:lnTo>
                  <a:lnTo>
                    <a:pt x="0" y="550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" t="0" r="-366" b="-5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2382887"/>
            <a:ext cx="8854224" cy="5471712"/>
          </a:xfrm>
          <a:custGeom>
            <a:avLst/>
            <a:gdLst/>
            <a:ahLst/>
            <a:cxnLst/>
            <a:rect r="r" b="b" t="t" l="l"/>
            <a:pathLst>
              <a:path h="5471712" w="8854224">
                <a:moveTo>
                  <a:pt x="0" y="0"/>
                </a:moveTo>
                <a:lnTo>
                  <a:pt x="8854224" y="0"/>
                </a:lnTo>
                <a:lnTo>
                  <a:pt x="8854224" y="5471712"/>
                </a:lnTo>
                <a:lnTo>
                  <a:pt x="0" y="5471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3811" y="618530"/>
            <a:ext cx="6023819" cy="80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3811" y="1930747"/>
            <a:ext cx="7886254" cy="83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architecture of an undercomplete autoencoder is fundamentally divided into three key components: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3811" y="2918520"/>
            <a:ext cx="7886254" cy="122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AutoNum type="arabicPeriod" startAt="1"/>
            </a:pPr>
            <a:r>
              <a:rPr lang="en-US" b="true" sz="1874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Encoder: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This part of the network takes the input data </a:t>
            </a:r>
            <a:r>
              <a:rPr lang="en-US" sz="1874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x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and transforms it into a lower-dimensional latent representation </a:t>
            </a:r>
            <a:r>
              <a:rPr lang="en-US" sz="1874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z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 It learns to extract the most salient features.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3811" y="4159151"/>
            <a:ext cx="7886254" cy="160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AutoNum type="arabicPeriod" startAt="1"/>
            </a:pPr>
            <a:r>
              <a:rPr lang="en-US" b="true" sz="1874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Latent Space (Bottleneck):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This is the compressed, undercomplete representation of the input. It acts as an information bottleneck, forcing the encoder to prioritize information.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3811" y="5785247"/>
            <a:ext cx="7886254" cy="122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00"/>
              </a:lnSpc>
              <a:buAutoNum type="arabicPeriod" startAt="1"/>
            </a:pPr>
            <a:r>
              <a:rPr lang="en-US" b="true" sz="1874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Decoder: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The decoder's role is to take the latent representation </a:t>
            </a:r>
            <a:r>
              <a:rPr lang="en-US" sz="1874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z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and map it back to a reconstructed version of the original data, denoted as </a:t>
            </a:r>
            <a:r>
              <a:rPr lang="en-US" sz="1874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\hat{x}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811" y="7158484"/>
            <a:ext cx="7886254" cy="45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mathematical representation of this process is: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3811" y="8566397"/>
            <a:ext cx="7886254" cy="83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Where </a:t>
            </a:r>
            <a:r>
              <a:rPr lang="en-US" sz="1874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f_\theta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is the encoder function with parameters </a:t>
            </a:r>
            <a:r>
              <a:rPr lang="en-US" sz="1874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\theta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and </a:t>
            </a:r>
            <a:r>
              <a:rPr lang="en-US" sz="1874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g_\phi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is the decoder function with parameters </a:t>
            </a:r>
            <a:r>
              <a:rPr lang="en-US" sz="1874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\phi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79996"/>
            <a:ext cx="14695586" cy="81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Loss Function: Minimizing Reconstruction Error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02781"/>
            <a:ext cx="7849195" cy="12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primary objective during the training of an autoencoder is to minimize the </a:t>
            </a:r>
            <a:r>
              <a:rPr lang="en-US" sz="1937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reconstruction error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 This error quantifies how much the reconstructed output deviates from the original input.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616797"/>
            <a:ext cx="7849195" cy="12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commonly used loss function for this purpose is the </a:t>
            </a:r>
            <a:r>
              <a:rPr lang="en-US" sz="1937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Mean Squared Error (MSE)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which calculates the average of the squared differences between the original input and its reconstruction: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92238" y="6207175"/>
            <a:ext cx="7849195" cy="433685"/>
            <a:chOff x="0" y="0"/>
            <a:chExt cx="10465593" cy="578247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465562" cy="578231"/>
            </a:xfrm>
            <a:custGeom>
              <a:avLst/>
              <a:gdLst/>
              <a:ahLst/>
              <a:cxnLst/>
              <a:rect r="r" b="b" t="t" l="l"/>
              <a:pathLst>
                <a:path h="57823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578231"/>
                  </a:lnTo>
                  <a:lnTo>
                    <a:pt x="0" y="578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18" r="0" b="-52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6869014"/>
            <a:ext cx="7849195" cy="12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Minimizing this loss ensures that the autoencoder learns to produce an output </a:t>
            </a:r>
            <a:r>
              <a:rPr lang="en-US" sz="1937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\hat{x}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that is as close as possible to the original input </a:t>
            </a:r>
            <a:r>
              <a:rPr lang="en-US" sz="1937" i="true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x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thereby capturing its essential features in the latent space.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456092" y="3344316"/>
            <a:ext cx="7849195" cy="3924597"/>
            <a:chOff x="0" y="0"/>
            <a:chExt cx="10465593" cy="523279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465562" cy="5232781"/>
            </a:xfrm>
            <a:custGeom>
              <a:avLst/>
              <a:gdLst/>
              <a:ahLst/>
              <a:cxnLst/>
              <a:rect r="r" b="b" t="t" l="l"/>
              <a:pathLst>
                <a:path h="5232781" w="10465562">
                  <a:moveTo>
                    <a:pt x="0" y="0"/>
                  </a:moveTo>
                  <a:lnTo>
                    <a:pt x="10465562" y="0"/>
                  </a:lnTo>
                  <a:lnTo>
                    <a:pt x="10465562" y="5232781"/>
                  </a:lnTo>
                  <a:lnTo>
                    <a:pt x="0" y="5232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3336" y="631031"/>
            <a:ext cx="8256538" cy="79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Example with MNIST Digits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336" y="1946821"/>
            <a:ext cx="7873901" cy="8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Let's consider an example using the popular </a:t>
            </a:r>
            <a:r>
              <a:rPr lang="en-US" sz="1874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MNIST dataset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which consists of handwritten digits (0-9).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3336" y="2944416"/>
            <a:ext cx="7873901" cy="45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b="true" sz="1874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Input: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Each digit is a 28x28 grayscale image.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336" y="3418880"/>
            <a:ext cx="7873901" cy="8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b="true" sz="1874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Encoder: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The encoder compresses this 784-pixel input into a much smaller latent space, for instance, 32 features.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336" y="4282679"/>
            <a:ext cx="7873901" cy="8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b="true" sz="1874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Decoder: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The decoder then attempts to reconstruct the original 28x28 digit from these 32 features.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336" y="5280273"/>
            <a:ext cx="7873901" cy="162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While the reconstruction may not be pixel-perfect, the undercomplete autoencoder successfully captures the </a:t>
            </a:r>
            <a:r>
              <a:rPr lang="en-US" sz="1874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important features</a:t>
            </a:r>
            <a:r>
              <a:rPr lang="en-US" sz="1874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and structural characteristics of the digits, demonstrating its ability to learn efficient representations.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450289" y="2068265"/>
            <a:ext cx="7873901" cy="7440960"/>
            <a:chOff x="0" y="0"/>
            <a:chExt cx="10498535" cy="992128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498582" cy="9921240"/>
            </a:xfrm>
            <a:custGeom>
              <a:avLst/>
              <a:gdLst/>
              <a:ahLst/>
              <a:cxnLst/>
              <a:rect r="r" b="b" t="t" l="l"/>
              <a:pathLst>
                <a:path h="9921240" w="10498582">
                  <a:moveTo>
                    <a:pt x="0" y="0"/>
                  </a:moveTo>
                  <a:lnTo>
                    <a:pt x="10498582" y="0"/>
                  </a:lnTo>
                  <a:lnTo>
                    <a:pt x="10498582" y="9921240"/>
                  </a:lnTo>
                  <a:lnTo>
                    <a:pt x="0" y="9921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" t="0" r="-33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4125" y="540097"/>
            <a:ext cx="7091214" cy="71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Advantages &amp; Applications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54125" y="1575197"/>
            <a:ext cx="640556" cy="640556"/>
            <a:chOff x="0" y="0"/>
            <a:chExt cx="854075" cy="85407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54075" cy="854075"/>
            </a:xfrm>
            <a:custGeom>
              <a:avLst/>
              <a:gdLst/>
              <a:ahLst/>
              <a:cxnLst/>
              <a:rect r="r" b="b" t="t" l="l"/>
              <a:pathLst>
                <a:path h="854075" w="854075">
                  <a:moveTo>
                    <a:pt x="0" y="0"/>
                  </a:moveTo>
                  <a:lnTo>
                    <a:pt x="854075" y="0"/>
                  </a:lnTo>
                  <a:lnTo>
                    <a:pt x="854075" y="854075"/>
                  </a:lnTo>
                  <a:lnTo>
                    <a:pt x="0" y="854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54125" y="2454027"/>
            <a:ext cx="3413372" cy="36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Dimensionality Reduction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4125" y="2877591"/>
            <a:ext cx="9721751" cy="40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Simplifies complex datasets for easier analysis and visualization.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54125" y="3712964"/>
            <a:ext cx="640556" cy="640556"/>
            <a:chOff x="0" y="0"/>
            <a:chExt cx="854075" cy="85407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54075" cy="854075"/>
            </a:xfrm>
            <a:custGeom>
              <a:avLst/>
              <a:gdLst/>
              <a:ahLst/>
              <a:cxnLst/>
              <a:rect r="r" b="b" t="t" l="l"/>
              <a:pathLst>
                <a:path h="854075" w="854075">
                  <a:moveTo>
                    <a:pt x="0" y="0"/>
                  </a:moveTo>
                  <a:lnTo>
                    <a:pt x="854075" y="0"/>
                  </a:lnTo>
                  <a:lnTo>
                    <a:pt x="854075" y="854075"/>
                  </a:lnTo>
                  <a:lnTo>
                    <a:pt x="0" y="854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54125" y="4591794"/>
            <a:ext cx="2669381" cy="36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Noise Removal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4125" y="5015359"/>
            <a:ext cx="9721751" cy="40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Effectively cleans noisy data, enhancing data quality.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54125" y="5850731"/>
            <a:ext cx="640556" cy="640556"/>
            <a:chOff x="0" y="0"/>
            <a:chExt cx="854075" cy="85407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854075" cy="854075"/>
            </a:xfrm>
            <a:custGeom>
              <a:avLst/>
              <a:gdLst/>
              <a:ahLst/>
              <a:cxnLst/>
              <a:rect r="r" b="b" t="t" l="l"/>
              <a:pathLst>
                <a:path h="854075" w="854075">
                  <a:moveTo>
                    <a:pt x="0" y="0"/>
                  </a:moveTo>
                  <a:lnTo>
                    <a:pt x="854075" y="0"/>
                  </a:lnTo>
                  <a:lnTo>
                    <a:pt x="854075" y="854075"/>
                  </a:lnTo>
                  <a:lnTo>
                    <a:pt x="0" y="854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4125" y="6729561"/>
            <a:ext cx="2669381" cy="36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Feature Extraction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4125" y="7153126"/>
            <a:ext cx="9721751" cy="40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Extracts salient features crucial for classification and other tasks.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54125" y="7988499"/>
            <a:ext cx="640556" cy="640556"/>
            <a:chOff x="0" y="0"/>
            <a:chExt cx="854075" cy="85407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54075" cy="854075"/>
            </a:xfrm>
            <a:custGeom>
              <a:avLst/>
              <a:gdLst/>
              <a:ahLst/>
              <a:cxnLst/>
              <a:rect r="r" b="b" t="t" l="l"/>
              <a:pathLst>
                <a:path h="854075" w="854075">
                  <a:moveTo>
                    <a:pt x="0" y="0"/>
                  </a:moveTo>
                  <a:lnTo>
                    <a:pt x="854075" y="0"/>
                  </a:lnTo>
                  <a:lnTo>
                    <a:pt x="854075" y="854075"/>
                  </a:lnTo>
                  <a:lnTo>
                    <a:pt x="0" y="854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54125" y="8867329"/>
            <a:ext cx="2669381" cy="36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Anomaly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4125" y="9290894"/>
            <a:ext cx="9721751" cy="40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Identifies outliers in data, useful in fraud or medical diagnostics.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1430000" y="109389"/>
            <a:ext cx="6858000" cy="10287000"/>
            <a:chOff x="0" y="0"/>
            <a:chExt cx="9144000" cy="13716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038647"/>
            <a:ext cx="14409687" cy="81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Undercomplete vs. Overcomplete Autoencoders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361432"/>
            <a:ext cx="7849195" cy="12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choice between undercomplete and overcomplete autoencoders hinges on the desired outcome and the nature of the 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775447"/>
            <a:ext cx="7849195" cy="12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Undercomplete Autoencoders: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With a latent space smaller than the input, they are forced to learn highly </a:t>
            </a:r>
            <a:r>
              <a:rPr lang="en-US" b="true" sz="1937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efficient and generalized features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preventing simple memorization.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052989"/>
            <a:ext cx="7849195" cy="207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Overcomplete Autoencoders: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When the latent space is larger than or equal to the input dimension, there's a higher </a:t>
            </a:r>
            <a:r>
              <a:rPr lang="en-US" b="true" sz="1937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risk of memorization</a:t>
            </a: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. The model might simply learn to copy the input without extracting meaningful representations, unless regularization techniques are applied.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51330" y="3498205"/>
            <a:ext cx="7858720" cy="2249686"/>
            <a:chOff x="0" y="0"/>
            <a:chExt cx="10478293" cy="2999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78262" cy="2999613"/>
            </a:xfrm>
            <a:custGeom>
              <a:avLst/>
              <a:gdLst/>
              <a:ahLst/>
              <a:cxnLst/>
              <a:rect r="r" b="b" t="t" l="l"/>
              <a:pathLst>
                <a:path h="2999613" w="10478262">
                  <a:moveTo>
                    <a:pt x="0" y="56007"/>
                  </a:moveTo>
                  <a:cubicBezTo>
                    <a:pt x="0" y="25019"/>
                    <a:pt x="25146" y="0"/>
                    <a:pt x="56134" y="0"/>
                  </a:cubicBezTo>
                  <a:lnTo>
                    <a:pt x="10422128" y="0"/>
                  </a:lnTo>
                  <a:lnTo>
                    <a:pt x="10422128" y="6350"/>
                  </a:lnTo>
                  <a:lnTo>
                    <a:pt x="10422128" y="0"/>
                  </a:lnTo>
                  <a:cubicBezTo>
                    <a:pt x="10453116" y="0"/>
                    <a:pt x="10478262" y="25019"/>
                    <a:pt x="10478262" y="56007"/>
                  </a:cubicBezTo>
                  <a:lnTo>
                    <a:pt x="10471912" y="56007"/>
                  </a:lnTo>
                  <a:lnTo>
                    <a:pt x="10478262" y="56007"/>
                  </a:lnTo>
                  <a:lnTo>
                    <a:pt x="10478262" y="2943606"/>
                  </a:lnTo>
                  <a:lnTo>
                    <a:pt x="10471912" y="2943606"/>
                  </a:lnTo>
                  <a:lnTo>
                    <a:pt x="10478262" y="2943606"/>
                  </a:lnTo>
                  <a:cubicBezTo>
                    <a:pt x="10478262" y="2974594"/>
                    <a:pt x="10453116" y="2999613"/>
                    <a:pt x="10422128" y="2999613"/>
                  </a:cubicBezTo>
                  <a:lnTo>
                    <a:pt x="10422128" y="2993263"/>
                  </a:lnTo>
                  <a:lnTo>
                    <a:pt x="10422128" y="2999613"/>
                  </a:lnTo>
                  <a:lnTo>
                    <a:pt x="56134" y="2999613"/>
                  </a:lnTo>
                  <a:lnTo>
                    <a:pt x="56134" y="2993263"/>
                  </a:lnTo>
                  <a:lnTo>
                    <a:pt x="56134" y="2999613"/>
                  </a:lnTo>
                  <a:cubicBezTo>
                    <a:pt x="25146" y="2999613"/>
                    <a:pt x="0" y="2974594"/>
                    <a:pt x="0" y="2943606"/>
                  </a:cubicBezTo>
                  <a:lnTo>
                    <a:pt x="0" y="56007"/>
                  </a:lnTo>
                  <a:lnTo>
                    <a:pt x="6350" y="56007"/>
                  </a:lnTo>
                  <a:lnTo>
                    <a:pt x="0" y="56007"/>
                  </a:lnTo>
                  <a:moveTo>
                    <a:pt x="12700" y="56007"/>
                  </a:moveTo>
                  <a:lnTo>
                    <a:pt x="12700" y="2943606"/>
                  </a:lnTo>
                  <a:lnTo>
                    <a:pt x="6350" y="2943606"/>
                  </a:lnTo>
                  <a:lnTo>
                    <a:pt x="12700" y="2943606"/>
                  </a:lnTo>
                  <a:cubicBezTo>
                    <a:pt x="12700" y="2967482"/>
                    <a:pt x="32131" y="2986913"/>
                    <a:pt x="56134" y="2986913"/>
                  </a:cubicBezTo>
                  <a:lnTo>
                    <a:pt x="10422128" y="2986913"/>
                  </a:lnTo>
                  <a:cubicBezTo>
                    <a:pt x="10446131" y="2986913"/>
                    <a:pt x="10465562" y="2967482"/>
                    <a:pt x="10465562" y="2943606"/>
                  </a:cubicBezTo>
                  <a:lnTo>
                    <a:pt x="10465562" y="56007"/>
                  </a:lnTo>
                  <a:cubicBezTo>
                    <a:pt x="10465562" y="32131"/>
                    <a:pt x="10446131" y="12700"/>
                    <a:pt x="10422128" y="12700"/>
                  </a:cubicBezTo>
                  <a:lnTo>
                    <a:pt x="56134" y="12700"/>
                  </a:lnTo>
                  <a:lnTo>
                    <a:pt x="56134" y="6350"/>
                  </a:lnTo>
                  <a:lnTo>
                    <a:pt x="56134" y="12700"/>
                  </a:lnTo>
                  <a:cubicBezTo>
                    <a:pt x="32131" y="12700"/>
                    <a:pt x="12700" y="32131"/>
                    <a:pt x="12700" y="5600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65617" y="3512492"/>
            <a:ext cx="7830145" cy="1110555"/>
            <a:chOff x="0" y="0"/>
            <a:chExt cx="10440193" cy="1480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40162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1480693"/>
                  </a:lnTo>
                  <a:lnTo>
                    <a:pt x="0" y="148069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713714" y="3585121"/>
            <a:ext cx="1848296" cy="4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Undercomplete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67431" y="3585121"/>
            <a:ext cx="2235101" cy="4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Smaller than input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07952" y="3585121"/>
            <a:ext cx="2239864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Efficient representation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65617" y="4623047"/>
            <a:ext cx="7830145" cy="1110555"/>
            <a:chOff x="0" y="0"/>
            <a:chExt cx="10440193" cy="1480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40162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1480693"/>
                  </a:lnTo>
                  <a:lnTo>
                    <a:pt x="0" y="1480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713714" y="4695676"/>
            <a:ext cx="1848296" cy="4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Overcomplete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67431" y="4695676"/>
            <a:ext cx="2235101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Larger/same as input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07952" y="4695676"/>
            <a:ext cx="2239864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Risk of memorization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DAGz3Dxga2w</dc:identifier>
  <dcterms:modified xsi:type="dcterms:W3CDTF">2011-08-01T06:04:30Z</dcterms:modified>
  <cp:revision>1</cp:revision>
  <dc:title>Undercomplete-Autoencoders-Learning-Efficient-Representations.pptx</dc:title>
</cp:coreProperties>
</file>